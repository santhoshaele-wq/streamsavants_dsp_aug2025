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71" r:id="rId8"/>
    <p:sldId id="263" r:id="rId9"/>
    <p:sldId id="264" r:id="rId10"/>
    <p:sldId id="267" r:id="rId11"/>
    <p:sldId id="261" r:id="rId12"/>
    <p:sldId id="268" r:id="rId13"/>
    <p:sldId id="269" r:id="rId14"/>
    <p:sldId id="270" r:id="rId15"/>
  </p:sldIdLst>
  <p:sldSz cx="12192000" cy="6858000"/>
  <p:notesSz cx="6858000" cy="9144000"/>
  <p:embeddedFontLst>
    <p:embeddedFont>
      <p:font typeface="Rajdhani" panose="020B0604020202020204" charset="0"/>
      <p:regular r:id="rId17"/>
      <p:bold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CEF735-75DF-40E3-BE0F-2135F2EFD418}">
  <a:tblStyle styleId="{91CEF735-75DF-40E3-BE0F-2135F2EFD41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78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0EB6836-3741-7471-8B66-E3D716518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160746A-E5FF-6D5F-E564-CD579E55D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>
            <a:extLst>
              <a:ext uri="{FF2B5EF4-FFF2-40B4-BE49-F238E27FC236}">
                <a16:creationId xmlns:a16="http://schemas.microsoft.com/office/drawing/2014/main" id="{A5DEDB19-45C1-2136-A87B-CBB726949E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0371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562EB309-0468-8F9E-3838-C544B2271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E6130B55-BAF0-CC50-1D7A-8E7EFC3D5C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>
            <a:extLst>
              <a:ext uri="{FF2B5EF4-FFF2-40B4-BE49-F238E27FC236}">
                <a16:creationId xmlns:a16="http://schemas.microsoft.com/office/drawing/2014/main" id="{D3B394E6-50B2-4DED-3B1A-9AA0558B4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7840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853654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STREAM SAVANTS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2329904"/>
            <a:ext cx="11581447" cy="130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STROKE PREDICTION USING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 PATIENT HEALTH RECORDS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81025" y="3918495"/>
            <a:ext cx="952500" cy="381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242345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Course: DA 204o - Data Science in Practice | IISc Bangalore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4813845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Authors: Aele Santhosh, Ratul Khan, Balla Malleswara Rao, Abdul Hafiz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0977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71525" y="48577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BACKGROUND: WHY THIS MATTERS?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81025" y="485775"/>
            <a:ext cx="47625" cy="5905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483435"/>
            <a:ext cx="5229225" cy="7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Stroke is the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2nd leading cause of death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worldwide.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3271242"/>
            <a:ext cx="5229225" cy="1001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80%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of strokes are preventable with early intervention, yet detection remains a challenge.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4254400"/>
            <a:ext cx="52292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Treatment costs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₹3-5 lakhs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per event.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Prevention is estimated to be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10x cheaper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pic>
        <p:nvPicPr>
          <p:cNvPr id="3" name="Google Shape;102;p14" descr="image.png">
            <a:extLst>
              <a:ext uri="{FF2B5EF4-FFF2-40B4-BE49-F238E27FC236}">
                <a16:creationId xmlns:a16="http://schemas.microsoft.com/office/drawing/2014/main" id="{3693E94B-D0FC-0644-C69D-D794B5AC7BB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14537"/>
            <a:ext cx="521017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71525" y="48577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PROBLEM STATEMENT &amp; OBJECTIVES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81025" y="485775"/>
            <a:ext cx="47625" cy="5905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581025" y="3186112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THE CHALLENGE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81025" y="3595687"/>
            <a:ext cx="522922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Traditional clinical assessment often fails to identify high-risk patients early.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Manual processes lead to late diagnosis and emergency interventions rather than preventive care.</a:t>
            </a:r>
            <a:endParaRPr dirty="0"/>
          </a:p>
        </p:txBody>
      </p:sp>
      <p:sp>
        <p:nvSpPr>
          <p:cNvPr id="111" name="Google Shape;111;p15"/>
          <p:cNvSpPr txBox="1"/>
          <p:nvPr/>
        </p:nvSpPr>
        <p:spPr>
          <a:xfrm>
            <a:off x="6381750" y="2938462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OUR OBJECTIVES</a:t>
            </a:r>
            <a:endParaRPr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95637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94798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6667500" y="3309937"/>
            <a:ext cx="49434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Build an accurate ML classifier for stroke risk.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6667500" y="3738562"/>
            <a:ext cx="49434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Identify key risk factors.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6667500" y="4167187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Target: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Achieve &gt;85% Recall to minimize false negatives (missed cases).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309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7385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16718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/>
        </p:nvSpPr>
        <p:spPr>
          <a:xfrm>
            <a:off x="771525" y="48577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DATASET OVERVIEW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81025" y="485775"/>
            <a:ext cx="47625" cy="5905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369093" y="3135630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Class Imbalance: 9,708 Stroke Cases vs 47,573 Healthy Cases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1135856" y="1905000"/>
            <a:ext cx="17335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57k+</a:t>
            </a:r>
            <a:endParaRPr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1135856" y="2762250"/>
            <a:ext cx="1733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PATIENT RECORDS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3979068" y="1905000"/>
            <a:ext cx="1905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r>
              <a:rPr lang="en-US" sz="6000" b="1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0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3979068" y="27622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FEATURES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6819846" y="1905000"/>
            <a:ext cx="1905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r>
              <a:rPr lang="en-US" sz="6000" b="1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7</a:t>
            </a:r>
            <a:r>
              <a:rPr lang="en-US" sz="6000" b="1" i="0" u="none" strike="noStrike" cap="none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%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6993731" y="276225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STROKE CASES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271173" y="1905000"/>
            <a:ext cx="2374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4.</a:t>
            </a:r>
            <a:r>
              <a:rPr lang="en-US" sz="6000" b="1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9</a:t>
            </a:r>
            <a:r>
              <a:rPr lang="en-US" sz="6000" b="1" i="0" u="none" strike="noStrike" cap="none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%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9532143" y="2762250"/>
            <a:ext cx="1524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MISSING DATA</a:t>
            </a:r>
            <a:endParaRPr dirty="0"/>
          </a:p>
        </p:txBody>
      </p:sp>
      <p:pic>
        <p:nvPicPr>
          <p:cNvPr id="3" name="Google Shape;141;p17" descr="image.png">
            <a:extLst>
              <a:ext uri="{FF2B5EF4-FFF2-40B4-BE49-F238E27FC236}">
                <a16:creationId xmlns:a16="http://schemas.microsoft.com/office/drawing/2014/main" id="{4335C781-908B-1E82-9055-4DACE7C7A4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478" y="4061460"/>
            <a:ext cx="2917284" cy="18364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6;p17">
            <a:extLst>
              <a:ext uri="{FF2B5EF4-FFF2-40B4-BE49-F238E27FC236}">
                <a16:creationId xmlns:a16="http://schemas.microsoft.com/office/drawing/2014/main" id="{B263A2D6-DF56-CD28-FEEE-08870A10A0FD}"/>
              </a:ext>
            </a:extLst>
          </p:cNvPr>
          <p:cNvSpPr txBox="1"/>
          <p:nvPr/>
        </p:nvSpPr>
        <p:spPr>
          <a:xfrm>
            <a:off x="1161097" y="4285869"/>
            <a:ext cx="27736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DEMOGRAPHICS</a:t>
            </a:r>
            <a:endParaRPr sz="2400" dirty="0"/>
          </a:p>
        </p:txBody>
      </p:sp>
      <p:sp>
        <p:nvSpPr>
          <p:cNvPr id="5" name="Google Shape;147;p17">
            <a:extLst>
              <a:ext uri="{FF2B5EF4-FFF2-40B4-BE49-F238E27FC236}">
                <a16:creationId xmlns:a16="http://schemas.microsoft.com/office/drawing/2014/main" id="{9EABEC1F-4133-EDAF-2F9A-1FAF7FD314E4}"/>
              </a:ext>
            </a:extLst>
          </p:cNvPr>
          <p:cNvSpPr txBox="1"/>
          <p:nvPr/>
        </p:nvSpPr>
        <p:spPr>
          <a:xfrm>
            <a:off x="1089287" y="4851060"/>
            <a:ext cx="2773665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ts val="1920"/>
              </a:lnSpc>
              <a:buSzPct val="100000"/>
              <a:buFont typeface="Arial"/>
              <a:buChar char="•"/>
            </a:pPr>
            <a:r>
              <a:rPr lang="en-US" sz="1500" dirty="0">
                <a:solidFill>
                  <a:srgbClr val="94A3B8"/>
                </a:solidFill>
                <a:latin typeface="Roboto"/>
                <a:ea typeface="Roboto"/>
                <a:cs typeface="Roboto"/>
              </a:rPr>
              <a:t>Age, Gender, Marital Status</a:t>
            </a:r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Roboto"/>
                <a:ea typeface="Roboto"/>
                <a:cs typeface="Roboto"/>
              </a:rPr>
              <a:t>Work Type</a:t>
            </a:r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Roboto"/>
                <a:ea typeface="Roboto"/>
                <a:cs typeface="Roboto"/>
              </a:rPr>
              <a:t>Residence Type</a:t>
            </a:r>
          </a:p>
        </p:txBody>
      </p:sp>
      <p:pic>
        <p:nvPicPr>
          <p:cNvPr id="7" name="Google Shape;141;p17" descr="image.png">
            <a:extLst>
              <a:ext uri="{FF2B5EF4-FFF2-40B4-BE49-F238E27FC236}">
                <a16:creationId xmlns:a16="http://schemas.microsoft.com/office/drawing/2014/main" id="{958C53CC-1322-7D7D-B8D5-E02ABC900B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2707" y="4061460"/>
            <a:ext cx="2917284" cy="18364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46;p17">
            <a:extLst>
              <a:ext uri="{FF2B5EF4-FFF2-40B4-BE49-F238E27FC236}">
                <a16:creationId xmlns:a16="http://schemas.microsoft.com/office/drawing/2014/main" id="{E15A57DD-3E0D-F932-2473-D947F48F4FF7}"/>
              </a:ext>
            </a:extLst>
          </p:cNvPr>
          <p:cNvSpPr txBox="1"/>
          <p:nvPr/>
        </p:nvSpPr>
        <p:spPr>
          <a:xfrm>
            <a:off x="4632707" y="4285869"/>
            <a:ext cx="27736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VITALS</a:t>
            </a:r>
            <a:endParaRPr sz="2400" dirty="0"/>
          </a:p>
        </p:txBody>
      </p:sp>
      <p:sp>
        <p:nvSpPr>
          <p:cNvPr id="9" name="Google Shape;147;p17">
            <a:extLst>
              <a:ext uri="{FF2B5EF4-FFF2-40B4-BE49-F238E27FC236}">
                <a16:creationId xmlns:a16="http://schemas.microsoft.com/office/drawing/2014/main" id="{56C02B7C-81C5-F221-A94F-DF1B2A843EE8}"/>
              </a:ext>
            </a:extLst>
          </p:cNvPr>
          <p:cNvSpPr txBox="1"/>
          <p:nvPr/>
        </p:nvSpPr>
        <p:spPr>
          <a:xfrm>
            <a:off x="5036032" y="4851060"/>
            <a:ext cx="2513959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Roboto"/>
                <a:ea typeface="Roboto"/>
                <a:cs typeface="Roboto"/>
              </a:rPr>
              <a:t>BMI</a:t>
            </a:r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Roboto"/>
                <a:ea typeface="Roboto"/>
                <a:cs typeface="Roboto"/>
              </a:rPr>
              <a:t>Glucose Level</a:t>
            </a:r>
          </a:p>
          <a:p>
            <a:pPr marL="342900" indent="-342900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Roboto"/>
                <a:ea typeface="Roboto"/>
                <a:cs typeface="Roboto"/>
              </a:rPr>
              <a:t>Hypertension</a:t>
            </a:r>
          </a:p>
        </p:txBody>
      </p:sp>
      <p:pic>
        <p:nvPicPr>
          <p:cNvPr id="10" name="Google Shape;141;p17" descr="image.png">
            <a:extLst>
              <a:ext uri="{FF2B5EF4-FFF2-40B4-BE49-F238E27FC236}">
                <a16:creationId xmlns:a16="http://schemas.microsoft.com/office/drawing/2014/main" id="{C274D57F-A9C2-A40D-32BC-9CBFABFE2B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7936" y="4061460"/>
            <a:ext cx="2917284" cy="18364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46;p17">
            <a:extLst>
              <a:ext uri="{FF2B5EF4-FFF2-40B4-BE49-F238E27FC236}">
                <a16:creationId xmlns:a16="http://schemas.microsoft.com/office/drawing/2014/main" id="{92DF5232-7E70-F49C-C0F2-306E5D0FA489}"/>
              </a:ext>
            </a:extLst>
          </p:cNvPr>
          <p:cNvSpPr txBox="1"/>
          <p:nvPr/>
        </p:nvSpPr>
        <p:spPr>
          <a:xfrm>
            <a:off x="8328606" y="4285869"/>
            <a:ext cx="27736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RISK INDICATORS</a:t>
            </a:r>
            <a:endParaRPr sz="2400" dirty="0"/>
          </a:p>
        </p:txBody>
      </p:sp>
      <p:sp>
        <p:nvSpPr>
          <p:cNvPr id="12" name="Google Shape;147;p17">
            <a:extLst>
              <a:ext uri="{FF2B5EF4-FFF2-40B4-BE49-F238E27FC236}">
                <a16:creationId xmlns:a16="http://schemas.microsoft.com/office/drawing/2014/main" id="{20C02EC2-FC05-C07A-4C5A-255E52E3A2AB}"/>
              </a:ext>
            </a:extLst>
          </p:cNvPr>
          <p:cNvSpPr txBox="1"/>
          <p:nvPr/>
        </p:nvSpPr>
        <p:spPr>
          <a:xfrm>
            <a:off x="8651261" y="4851060"/>
            <a:ext cx="2513959" cy="487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ts val="1920"/>
              </a:lnSpc>
              <a:buSzPct val="100000"/>
              <a:buFont typeface="Arial"/>
              <a:buChar char="•"/>
            </a:pPr>
            <a:r>
              <a:rPr lang="en-US" sz="1500" dirty="0">
                <a:solidFill>
                  <a:srgbClr val="94A3B8"/>
                </a:solidFill>
                <a:latin typeface="Roboto"/>
                <a:ea typeface="Roboto"/>
                <a:cs typeface="Roboto"/>
              </a:rPr>
              <a:t>Heart Disease</a:t>
            </a:r>
          </a:p>
          <a:p>
            <a:pPr marL="342900" indent="-342900">
              <a:lnSpc>
                <a:spcPts val="1920"/>
              </a:lnSpc>
              <a:buSzPct val="100000"/>
              <a:buFont typeface="Arial"/>
              <a:buChar char="•"/>
            </a:pPr>
            <a:r>
              <a:rPr lang="en-US" sz="1500" dirty="0">
                <a:solidFill>
                  <a:srgbClr val="94A3B8"/>
                </a:solidFill>
                <a:latin typeface="Roboto"/>
                <a:ea typeface="Roboto"/>
                <a:cs typeface="Roboto"/>
              </a:rPr>
              <a:t>Smoking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571750"/>
            <a:ext cx="35178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7000" y="2571750"/>
            <a:ext cx="35178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2571750"/>
            <a:ext cx="351785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771525" y="48577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DATA QUALITY CHALLENGES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81025" y="485775"/>
            <a:ext cx="47625" cy="5905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803117" y="3505200"/>
            <a:ext cx="30736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MISSING VALUES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876300" y="3914775"/>
            <a:ext cx="29273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2,797 missing records. Deletion would reduce sample size; ignoring introduces bias.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4559092" y="3505200"/>
            <a:ext cx="30736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CLASS IMBALANCE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4632275" y="3914775"/>
            <a:ext cx="29273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Only 16.95% positive cases. Standard models might ignore the minority class.</a:t>
            </a:r>
            <a:endParaRPr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8315068" y="3505200"/>
            <a:ext cx="30736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FEATURE SCALING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8388250" y="3914775"/>
            <a:ext cx="29273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Mixed scales (Age: 18-90, Glucose: 70-250) can bias distance-based algorithms.</a:t>
            </a:r>
            <a:endParaRPr dirty="0"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25563" y="28860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8860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61326" y="288607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343150"/>
            <a:ext cx="2650331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4231" y="2343150"/>
            <a:ext cx="2650331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60643" y="2343150"/>
            <a:ext cx="2650331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7000" y="2343150"/>
            <a:ext cx="2650331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74231" y="4105275"/>
            <a:ext cx="2650331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67437" y="4105275"/>
            <a:ext cx="5443537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3425" y="22098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26631" y="22098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13043" y="22098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26631" y="39719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19837" y="397192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771525" y="485775"/>
            <a:ext cx="1138142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METHODOLOGY</a:t>
            </a:r>
            <a:endParaRPr dirty="0"/>
          </a:p>
        </p:txBody>
      </p:sp>
      <p:sp>
        <p:nvSpPr>
          <p:cNvPr id="183" name="Google Shape;183;p19"/>
          <p:cNvSpPr/>
          <p:nvPr/>
        </p:nvSpPr>
        <p:spPr>
          <a:xfrm>
            <a:off x="581025" y="485775"/>
            <a:ext cx="47625" cy="5905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781050" y="2543175"/>
            <a:ext cx="23627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HANDLE MISSING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781050" y="2914650"/>
            <a:ext cx="22502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Median imputation for null values to minimize bias.</a:t>
            </a:r>
            <a:endParaRPr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3574256" y="2543175"/>
            <a:ext cx="23627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EDA</a:t>
            </a:r>
            <a:endParaRPr lang="en-US" dirty="0"/>
          </a:p>
        </p:txBody>
      </p:sp>
      <p:sp>
        <p:nvSpPr>
          <p:cNvPr id="187" name="Google Shape;187;p19"/>
          <p:cNvSpPr txBox="1"/>
          <p:nvPr/>
        </p:nvSpPr>
        <p:spPr>
          <a:xfrm>
            <a:off x="3574256" y="2914650"/>
            <a:ext cx="22502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Data distribution, Correlation</a:t>
            </a:r>
            <a:endParaRPr dirty="0"/>
          </a:p>
        </p:txBody>
      </p:sp>
      <p:sp>
        <p:nvSpPr>
          <p:cNvPr id="190" name="Google Shape;190;p19"/>
          <p:cNvSpPr txBox="1"/>
          <p:nvPr/>
        </p:nvSpPr>
        <p:spPr>
          <a:xfrm>
            <a:off x="9160668" y="2543175"/>
            <a:ext cx="23627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404" b="1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ENCODE &amp; </a:t>
            </a:r>
            <a:r>
              <a:rPr lang="en-US" b="1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SCALE</a:t>
            </a:r>
            <a:endParaRPr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9160667" y="2827764"/>
            <a:ext cx="225028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OneHotEncoder</a:t>
            </a:r>
            <a:b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 dirty="0" err="1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StandardScaler</a:t>
            </a:r>
            <a:endParaRPr lang="en-US" sz="1200" dirty="0"/>
          </a:p>
          <a:p>
            <a:pPr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192" name="Google Shape;192;p19"/>
          <p:cNvSpPr txBox="1"/>
          <p:nvPr/>
        </p:nvSpPr>
        <p:spPr>
          <a:xfrm>
            <a:off x="6367025" y="2543175"/>
            <a:ext cx="23627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FEATURE ENGG.</a:t>
            </a:r>
            <a:endParaRPr dirty="0"/>
          </a:p>
        </p:txBody>
      </p:sp>
      <p:sp>
        <p:nvSpPr>
          <p:cNvPr id="193" name="Google Shape;193;p19"/>
          <p:cNvSpPr txBox="1"/>
          <p:nvPr/>
        </p:nvSpPr>
        <p:spPr>
          <a:xfrm>
            <a:off x="6367025" y="2914650"/>
            <a:ext cx="2250281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BMI range, </a:t>
            </a:r>
            <a: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ge </a:t>
            </a:r>
            <a: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roups,                         </a:t>
            </a:r>
            <a:r>
              <a:rPr lang="en-IN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IN" sz="1200" dirty="0">
                <a:solidFill>
                  <a:srgbClr val="CBD5E1"/>
                </a:solidFill>
                <a:latin typeface="Roboto"/>
                <a:ea typeface="Roboto"/>
                <a:cs typeface="Roboto"/>
              </a:rPr>
              <a:t>igh Risk Score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4" name="Google Shape;194;p19"/>
          <p:cNvSpPr txBox="1"/>
          <p:nvPr/>
        </p:nvSpPr>
        <p:spPr>
          <a:xfrm>
            <a:off x="3574256" y="4305300"/>
            <a:ext cx="2362795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Evaluation</a:t>
            </a:r>
            <a:endParaRPr dirty="0"/>
          </a:p>
        </p:txBody>
      </p:sp>
      <p:sp>
        <p:nvSpPr>
          <p:cNvPr id="195" name="Google Shape;195;p19"/>
          <p:cNvSpPr txBox="1"/>
          <p:nvPr/>
        </p:nvSpPr>
        <p:spPr>
          <a:xfrm>
            <a:off x="3569372" y="4654735"/>
            <a:ext cx="22502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Accuracy, F1, ROC-AUC, Recall</a:t>
            </a:r>
            <a:endParaRPr dirty="0"/>
          </a:p>
        </p:txBody>
      </p:sp>
      <p:sp>
        <p:nvSpPr>
          <p:cNvPr id="196" name="Google Shape;196;p19"/>
          <p:cNvSpPr txBox="1"/>
          <p:nvPr/>
        </p:nvSpPr>
        <p:spPr>
          <a:xfrm>
            <a:off x="6367462" y="4305300"/>
            <a:ext cx="529566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PREDICTION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367462" y="4676775"/>
            <a:ext cx="504348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rPr>
              <a:t>Generating prediction for new patient data.</a:t>
            </a:r>
            <a:endParaRPr dirty="0"/>
          </a:p>
        </p:txBody>
      </p:sp>
      <p:pic>
        <p:nvPicPr>
          <p:cNvPr id="2" name="Google Shape;170;p19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91820" y="4105275"/>
            <a:ext cx="2650331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77;p19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81856" y="220027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88;p19"/>
          <p:cNvSpPr txBox="1"/>
          <p:nvPr/>
        </p:nvSpPr>
        <p:spPr>
          <a:xfrm>
            <a:off x="791845" y="4305300"/>
            <a:ext cx="2362795" cy="64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MODEL Training &amp; Cross Validation</a:t>
            </a:r>
            <a:endParaRPr lang="en-US" dirty="0"/>
          </a:p>
          <a:p>
            <a:pPr lvl="0"/>
            <a:endParaRPr dirty="0"/>
          </a:p>
        </p:txBody>
      </p:sp>
      <p:sp>
        <p:nvSpPr>
          <p:cNvPr id="5" name="Google Shape;189;p19"/>
          <p:cNvSpPr txBox="1"/>
          <p:nvPr/>
        </p:nvSpPr>
        <p:spPr>
          <a:xfrm>
            <a:off x="791845" y="4750653"/>
            <a:ext cx="22502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Stacked Meta Model (RF and GB)</a:t>
            </a:r>
            <a:b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5 fold Cross Validation</a:t>
            </a:r>
            <a:endParaRPr lang="en-US" sz="1200" dirty="0"/>
          </a:p>
        </p:txBody>
      </p:sp>
      <p:pic>
        <p:nvPicPr>
          <p:cNvPr id="6" name="Google Shape;179;p19" descr="image.png">
            <a:extLst>
              <a:ext uri="{FF2B5EF4-FFF2-40B4-BE49-F238E27FC236}">
                <a16:creationId xmlns:a16="http://schemas.microsoft.com/office/drawing/2014/main" id="{5049CE0C-603E-270D-D125-D4F17D115428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63270" y="397764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2;p18" descr="image.png">
            <a:extLst>
              <a:ext uri="{FF2B5EF4-FFF2-40B4-BE49-F238E27FC236}">
                <a16:creationId xmlns:a16="http://schemas.microsoft.com/office/drawing/2014/main" id="{949D9CCF-FF25-EB63-34AE-3B3D1BC21945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749871" y="271238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68;p19" descr="image.png">
            <a:extLst>
              <a:ext uri="{FF2B5EF4-FFF2-40B4-BE49-F238E27FC236}">
                <a16:creationId xmlns:a16="http://schemas.microsoft.com/office/drawing/2014/main" id="{5F64EEEA-AEE7-C53E-6655-D7EBD86FAE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1025" y="2343150"/>
            <a:ext cx="2650331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9;p19" descr="image.png">
            <a:extLst>
              <a:ext uri="{FF2B5EF4-FFF2-40B4-BE49-F238E27FC236}">
                <a16:creationId xmlns:a16="http://schemas.microsoft.com/office/drawing/2014/main" id="{61D9B77C-1B7A-3D58-1D68-3D7D52FCE6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4231" y="2343150"/>
            <a:ext cx="2650331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1;p19" descr="image.png">
            <a:extLst>
              <a:ext uri="{FF2B5EF4-FFF2-40B4-BE49-F238E27FC236}">
                <a16:creationId xmlns:a16="http://schemas.microsoft.com/office/drawing/2014/main" id="{E8898BB8-F395-B9A3-0A08-8631530AF56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60643" y="2343150"/>
            <a:ext cx="2650331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72;p19" descr="image.png">
            <a:extLst>
              <a:ext uri="{FF2B5EF4-FFF2-40B4-BE49-F238E27FC236}">
                <a16:creationId xmlns:a16="http://schemas.microsoft.com/office/drawing/2014/main" id="{5199A13B-9EA2-09DA-571F-9D6B94CD3BF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7000" y="2343150"/>
            <a:ext cx="2650331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73;p19" descr="image.png">
            <a:extLst>
              <a:ext uri="{FF2B5EF4-FFF2-40B4-BE49-F238E27FC236}">
                <a16:creationId xmlns:a16="http://schemas.microsoft.com/office/drawing/2014/main" id="{79C70C45-B32D-9DAB-50C6-8635F02C2FB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74231" y="4105275"/>
            <a:ext cx="2650331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74;p19" descr="image.png">
            <a:extLst>
              <a:ext uri="{FF2B5EF4-FFF2-40B4-BE49-F238E27FC236}">
                <a16:creationId xmlns:a16="http://schemas.microsoft.com/office/drawing/2014/main" id="{17A9D18A-903B-2E53-DEC6-7E836C4E51B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67437" y="4105275"/>
            <a:ext cx="5443537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75;p19" descr="image.png">
            <a:extLst>
              <a:ext uri="{FF2B5EF4-FFF2-40B4-BE49-F238E27FC236}">
                <a16:creationId xmlns:a16="http://schemas.microsoft.com/office/drawing/2014/main" id="{9DFD85C4-C300-5C11-7D89-2B7055236A4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3425" y="22098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76;p19" descr="image.png">
            <a:extLst>
              <a:ext uri="{FF2B5EF4-FFF2-40B4-BE49-F238E27FC236}">
                <a16:creationId xmlns:a16="http://schemas.microsoft.com/office/drawing/2014/main" id="{F368B50D-48F0-F07B-69FE-C9D720C8F6B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26631" y="22098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78;p19" descr="image.png">
            <a:extLst>
              <a:ext uri="{FF2B5EF4-FFF2-40B4-BE49-F238E27FC236}">
                <a16:creationId xmlns:a16="http://schemas.microsoft.com/office/drawing/2014/main" id="{E42C1305-03ED-F2AB-609C-DDDF42667A6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13043" y="22098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80;p19" descr="image.png">
            <a:extLst>
              <a:ext uri="{FF2B5EF4-FFF2-40B4-BE49-F238E27FC236}">
                <a16:creationId xmlns:a16="http://schemas.microsoft.com/office/drawing/2014/main" id="{AF0FBCA9-74E1-F85C-5F89-0129A81E9A6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526631" y="397192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81;p19" descr="image.png">
            <a:extLst>
              <a:ext uri="{FF2B5EF4-FFF2-40B4-BE49-F238E27FC236}">
                <a16:creationId xmlns:a16="http://schemas.microsoft.com/office/drawing/2014/main" id="{D0D8E11F-548A-4E15-FB27-0D44FCCA403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19837" y="397192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84;p19">
            <a:extLst>
              <a:ext uri="{FF2B5EF4-FFF2-40B4-BE49-F238E27FC236}">
                <a16:creationId xmlns:a16="http://schemas.microsoft.com/office/drawing/2014/main" id="{9F43864A-5BE7-D75D-96EA-8287E4341327}"/>
              </a:ext>
            </a:extLst>
          </p:cNvPr>
          <p:cNvSpPr txBox="1"/>
          <p:nvPr/>
        </p:nvSpPr>
        <p:spPr>
          <a:xfrm>
            <a:off x="781050" y="2543175"/>
            <a:ext cx="23627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HANDLE MISSING</a:t>
            </a:r>
            <a:endParaRPr/>
          </a:p>
        </p:txBody>
      </p:sp>
      <p:sp>
        <p:nvSpPr>
          <p:cNvPr id="16" name="Google Shape;185;p19">
            <a:extLst>
              <a:ext uri="{FF2B5EF4-FFF2-40B4-BE49-F238E27FC236}">
                <a16:creationId xmlns:a16="http://schemas.microsoft.com/office/drawing/2014/main" id="{85B7C909-5E65-788A-242C-BBFFDCF7E828}"/>
              </a:ext>
            </a:extLst>
          </p:cNvPr>
          <p:cNvSpPr txBox="1"/>
          <p:nvPr/>
        </p:nvSpPr>
        <p:spPr>
          <a:xfrm>
            <a:off x="781050" y="2914650"/>
            <a:ext cx="22502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Median imputation for null values to minimize bias.</a:t>
            </a:r>
            <a:endParaRPr dirty="0"/>
          </a:p>
        </p:txBody>
      </p:sp>
      <p:sp>
        <p:nvSpPr>
          <p:cNvPr id="17" name="Google Shape;186;p19">
            <a:extLst>
              <a:ext uri="{FF2B5EF4-FFF2-40B4-BE49-F238E27FC236}">
                <a16:creationId xmlns:a16="http://schemas.microsoft.com/office/drawing/2014/main" id="{48C7AEEF-3421-4A0D-B496-B24649E23537}"/>
              </a:ext>
            </a:extLst>
          </p:cNvPr>
          <p:cNvSpPr txBox="1"/>
          <p:nvPr/>
        </p:nvSpPr>
        <p:spPr>
          <a:xfrm>
            <a:off x="3574256" y="2543175"/>
            <a:ext cx="23627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EDA</a:t>
            </a:r>
            <a:endParaRPr lang="en-US" dirty="0"/>
          </a:p>
        </p:txBody>
      </p:sp>
      <p:sp>
        <p:nvSpPr>
          <p:cNvPr id="18" name="Google Shape;187;p19">
            <a:extLst>
              <a:ext uri="{FF2B5EF4-FFF2-40B4-BE49-F238E27FC236}">
                <a16:creationId xmlns:a16="http://schemas.microsoft.com/office/drawing/2014/main" id="{4C0CDACA-A9C8-3295-02CC-D53010E255D5}"/>
              </a:ext>
            </a:extLst>
          </p:cNvPr>
          <p:cNvSpPr txBox="1"/>
          <p:nvPr/>
        </p:nvSpPr>
        <p:spPr>
          <a:xfrm>
            <a:off x="3574256" y="2914650"/>
            <a:ext cx="22502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Data distribution, Correlation</a:t>
            </a:r>
            <a:endParaRPr dirty="0"/>
          </a:p>
        </p:txBody>
      </p:sp>
      <p:sp>
        <p:nvSpPr>
          <p:cNvPr id="19" name="Google Shape;190;p19">
            <a:extLst>
              <a:ext uri="{FF2B5EF4-FFF2-40B4-BE49-F238E27FC236}">
                <a16:creationId xmlns:a16="http://schemas.microsoft.com/office/drawing/2014/main" id="{07FDEF63-D76D-3A74-528C-41FBE06F2E2B}"/>
              </a:ext>
            </a:extLst>
          </p:cNvPr>
          <p:cNvSpPr txBox="1"/>
          <p:nvPr/>
        </p:nvSpPr>
        <p:spPr>
          <a:xfrm>
            <a:off x="9160668" y="2543175"/>
            <a:ext cx="23627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404" b="1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ENCODE &amp; </a:t>
            </a:r>
            <a:r>
              <a:rPr lang="en-US" b="1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SCALE</a:t>
            </a:r>
            <a:endParaRPr dirty="0"/>
          </a:p>
        </p:txBody>
      </p:sp>
      <p:sp>
        <p:nvSpPr>
          <p:cNvPr id="20" name="Google Shape;191;p19">
            <a:extLst>
              <a:ext uri="{FF2B5EF4-FFF2-40B4-BE49-F238E27FC236}">
                <a16:creationId xmlns:a16="http://schemas.microsoft.com/office/drawing/2014/main" id="{6DD9735B-A27D-9D06-BD01-9343BB57CF4F}"/>
              </a:ext>
            </a:extLst>
          </p:cNvPr>
          <p:cNvSpPr txBox="1"/>
          <p:nvPr/>
        </p:nvSpPr>
        <p:spPr>
          <a:xfrm>
            <a:off x="9160667" y="2827764"/>
            <a:ext cx="225028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OneHotEncoder</a:t>
            </a:r>
            <a:b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 dirty="0" err="1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StandardScaler</a:t>
            </a:r>
            <a:endParaRPr lang="en-US" sz="1200" dirty="0"/>
          </a:p>
          <a:p>
            <a:pPr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21" name="Google Shape;192;p19">
            <a:extLst>
              <a:ext uri="{FF2B5EF4-FFF2-40B4-BE49-F238E27FC236}">
                <a16:creationId xmlns:a16="http://schemas.microsoft.com/office/drawing/2014/main" id="{E5873959-69BB-8B1F-46F9-746A17876E51}"/>
              </a:ext>
            </a:extLst>
          </p:cNvPr>
          <p:cNvSpPr txBox="1"/>
          <p:nvPr/>
        </p:nvSpPr>
        <p:spPr>
          <a:xfrm>
            <a:off x="6367025" y="2543175"/>
            <a:ext cx="236279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FEATURE ENGG.</a:t>
            </a:r>
            <a:endParaRPr dirty="0"/>
          </a:p>
        </p:txBody>
      </p:sp>
      <p:sp>
        <p:nvSpPr>
          <p:cNvPr id="22" name="Google Shape;193;p19">
            <a:extLst>
              <a:ext uri="{FF2B5EF4-FFF2-40B4-BE49-F238E27FC236}">
                <a16:creationId xmlns:a16="http://schemas.microsoft.com/office/drawing/2014/main" id="{BC1CB8A1-70C2-8E5F-1B7F-A8F00D467A50}"/>
              </a:ext>
            </a:extLst>
          </p:cNvPr>
          <p:cNvSpPr txBox="1"/>
          <p:nvPr/>
        </p:nvSpPr>
        <p:spPr>
          <a:xfrm>
            <a:off x="6367025" y="2914650"/>
            <a:ext cx="2250281" cy="8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BMI range, </a:t>
            </a:r>
            <a: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ge </a:t>
            </a:r>
            <a: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roups,                         </a:t>
            </a:r>
            <a:r>
              <a:rPr lang="en-IN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IN" sz="1200" dirty="0">
                <a:solidFill>
                  <a:srgbClr val="CBD5E1"/>
                </a:solidFill>
                <a:latin typeface="Roboto"/>
                <a:ea typeface="Roboto"/>
                <a:cs typeface="Roboto"/>
              </a:rPr>
              <a:t>igh Risk Score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194;p19">
            <a:extLst>
              <a:ext uri="{FF2B5EF4-FFF2-40B4-BE49-F238E27FC236}">
                <a16:creationId xmlns:a16="http://schemas.microsoft.com/office/drawing/2014/main" id="{89FDCF07-A9A0-50CB-EA4A-42E14B82069B}"/>
              </a:ext>
            </a:extLst>
          </p:cNvPr>
          <p:cNvSpPr txBox="1"/>
          <p:nvPr/>
        </p:nvSpPr>
        <p:spPr>
          <a:xfrm>
            <a:off x="3574256" y="4305300"/>
            <a:ext cx="2362795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Evaluation</a:t>
            </a:r>
            <a:endParaRPr dirty="0"/>
          </a:p>
        </p:txBody>
      </p:sp>
      <p:sp>
        <p:nvSpPr>
          <p:cNvPr id="24" name="Google Shape;195;p19">
            <a:extLst>
              <a:ext uri="{FF2B5EF4-FFF2-40B4-BE49-F238E27FC236}">
                <a16:creationId xmlns:a16="http://schemas.microsoft.com/office/drawing/2014/main" id="{1485B0F6-5C3D-4BFF-A76E-F023236A93A8}"/>
              </a:ext>
            </a:extLst>
          </p:cNvPr>
          <p:cNvSpPr txBox="1"/>
          <p:nvPr/>
        </p:nvSpPr>
        <p:spPr>
          <a:xfrm>
            <a:off x="3569372" y="4654735"/>
            <a:ext cx="22502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Accuracy, F1, ROC-AUC, Recall</a:t>
            </a:r>
            <a:endParaRPr dirty="0"/>
          </a:p>
        </p:txBody>
      </p:sp>
      <p:sp>
        <p:nvSpPr>
          <p:cNvPr id="25" name="Google Shape;196;p19">
            <a:extLst>
              <a:ext uri="{FF2B5EF4-FFF2-40B4-BE49-F238E27FC236}">
                <a16:creationId xmlns:a16="http://schemas.microsoft.com/office/drawing/2014/main" id="{BA048B25-9616-ECAD-321B-6CE74D856F05}"/>
              </a:ext>
            </a:extLst>
          </p:cNvPr>
          <p:cNvSpPr txBox="1"/>
          <p:nvPr/>
        </p:nvSpPr>
        <p:spPr>
          <a:xfrm>
            <a:off x="6367462" y="4305300"/>
            <a:ext cx="529566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PREDICTION</a:t>
            </a:r>
            <a:endParaRPr/>
          </a:p>
        </p:txBody>
      </p:sp>
      <p:sp>
        <p:nvSpPr>
          <p:cNvPr id="26" name="Google Shape;197;p19">
            <a:extLst>
              <a:ext uri="{FF2B5EF4-FFF2-40B4-BE49-F238E27FC236}">
                <a16:creationId xmlns:a16="http://schemas.microsoft.com/office/drawing/2014/main" id="{716B30B8-ABFD-5DB7-AB7C-69A7D94695F3}"/>
              </a:ext>
            </a:extLst>
          </p:cNvPr>
          <p:cNvSpPr txBox="1"/>
          <p:nvPr/>
        </p:nvSpPr>
        <p:spPr>
          <a:xfrm>
            <a:off x="6367462" y="4676775"/>
            <a:ext cx="504348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Generating prediction for new patient data.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7" name="Google Shape;170;p19" descr="image.png">
            <a:extLst>
              <a:ext uri="{FF2B5EF4-FFF2-40B4-BE49-F238E27FC236}">
                <a16:creationId xmlns:a16="http://schemas.microsoft.com/office/drawing/2014/main" id="{DBC4A7C8-D87F-CAB1-BADB-65BA8407EA1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91820" y="4105275"/>
            <a:ext cx="2650331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77;p19" descr="image.png">
            <a:extLst>
              <a:ext uri="{FF2B5EF4-FFF2-40B4-BE49-F238E27FC236}">
                <a16:creationId xmlns:a16="http://schemas.microsoft.com/office/drawing/2014/main" id="{6FDCF715-745C-F5E7-152C-7150DFF044CE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281856" y="220027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88;p19">
            <a:extLst>
              <a:ext uri="{FF2B5EF4-FFF2-40B4-BE49-F238E27FC236}">
                <a16:creationId xmlns:a16="http://schemas.microsoft.com/office/drawing/2014/main" id="{AE07CF56-70E4-79AA-F166-5744D751A42A}"/>
              </a:ext>
            </a:extLst>
          </p:cNvPr>
          <p:cNvSpPr txBox="1"/>
          <p:nvPr/>
        </p:nvSpPr>
        <p:spPr>
          <a:xfrm>
            <a:off x="791845" y="4305300"/>
            <a:ext cx="2362795" cy="647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MODEL Training &amp; Cross Validation</a:t>
            </a:r>
            <a:endParaRPr lang="en-US" dirty="0"/>
          </a:p>
          <a:p>
            <a:pPr lvl="0"/>
            <a:endParaRPr dirty="0"/>
          </a:p>
        </p:txBody>
      </p:sp>
      <p:sp>
        <p:nvSpPr>
          <p:cNvPr id="30" name="Google Shape;189;p19">
            <a:extLst>
              <a:ext uri="{FF2B5EF4-FFF2-40B4-BE49-F238E27FC236}">
                <a16:creationId xmlns:a16="http://schemas.microsoft.com/office/drawing/2014/main" id="{19273376-AB0D-563A-6B1E-BA217B7DDA46}"/>
              </a:ext>
            </a:extLst>
          </p:cNvPr>
          <p:cNvSpPr txBox="1"/>
          <p:nvPr/>
        </p:nvSpPr>
        <p:spPr>
          <a:xfrm>
            <a:off x="791845" y="4750653"/>
            <a:ext cx="225028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Stacked Meta Model (RF and GB)</a:t>
            </a:r>
            <a:b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5 fold Cross Validation</a:t>
            </a:r>
            <a:endParaRPr lang="en-US" sz="1200" dirty="0"/>
          </a:p>
        </p:txBody>
      </p:sp>
      <p:pic>
        <p:nvPicPr>
          <p:cNvPr id="31" name="Google Shape;179;p19" descr="image.png">
            <a:extLst>
              <a:ext uri="{FF2B5EF4-FFF2-40B4-BE49-F238E27FC236}">
                <a16:creationId xmlns:a16="http://schemas.microsoft.com/office/drawing/2014/main" id="{90CC5B69-6F78-0277-AAAF-84CC7A44C7F6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63270" y="3977640"/>
            <a:ext cx="285750" cy="285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8893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47862"/>
            <a:ext cx="6389340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71525" y="48577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MODEL EVALUATION &amp; META MODEL</a:t>
            </a:r>
            <a:endParaRPr dirty="0"/>
          </a:p>
        </p:txBody>
      </p:sp>
      <p:sp>
        <p:nvSpPr>
          <p:cNvPr id="205" name="Google Shape;205;p20"/>
          <p:cNvSpPr/>
          <p:nvPr/>
        </p:nvSpPr>
        <p:spPr>
          <a:xfrm>
            <a:off x="581025" y="485775"/>
            <a:ext cx="47625" cy="5905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20"/>
          <p:cNvGraphicFramePr/>
          <p:nvPr>
            <p:extLst>
              <p:ext uri="{D42A27DB-BD31-4B8C-83A1-F6EECF244321}">
                <p14:modId xmlns:p14="http://schemas.microsoft.com/office/powerpoint/2010/main" val="1336856048"/>
              </p:ext>
            </p:extLst>
          </p:nvPr>
        </p:nvGraphicFramePr>
        <p:xfrm>
          <a:off x="781050" y="2147887"/>
          <a:ext cx="5989275" cy="3533750"/>
        </p:xfrm>
        <a:graphic>
          <a:graphicData uri="http://schemas.openxmlformats.org/drawingml/2006/table">
            <a:tbl>
              <a:tblPr firstRow="1" bandRow="1">
                <a:noFill/>
                <a:tableStyleId>{91CEF735-75DF-40E3-BE0F-2135F2EFD418}</a:tableStyleId>
              </a:tblPr>
              <a:tblGrid>
                <a:gridCol w="108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chemeClr val="tx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Metric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Random Forest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Gradient Boost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chemeClr val="tx1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Meta Model (Stacked)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Accuracy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93.83%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84.04%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86.32%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Precision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81.95%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90.14%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86.50%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Recall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81.57%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6.59%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88.02%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ROC-AUC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0.9656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0.8471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0.9367%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7" name="Google Shape;207;p20"/>
          <p:cNvSpPr txBox="1"/>
          <p:nvPr/>
        </p:nvSpPr>
        <p:spPr>
          <a:xfrm>
            <a:off x="7351365" y="2376487"/>
            <a:ext cx="447259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ADE80"/>
                </a:solidFill>
                <a:latin typeface="Rajdhani"/>
                <a:ea typeface="Rajdhani"/>
                <a:cs typeface="Rajdhani"/>
                <a:sym typeface="Rajdhani"/>
              </a:rPr>
              <a:t>WHY STACKING?</a:t>
            </a:r>
            <a:endParaRPr sz="1800" dirty="0"/>
          </a:p>
        </p:txBody>
      </p:sp>
      <p:sp>
        <p:nvSpPr>
          <p:cNvPr id="208" name="Google Shape;208;p20"/>
          <p:cNvSpPr txBox="1"/>
          <p:nvPr/>
        </p:nvSpPr>
        <p:spPr>
          <a:xfrm>
            <a:off x="7351365" y="2786062"/>
            <a:ext cx="4259609" cy="168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Rajdhani" panose="020B0604020202020204" charset="0"/>
                <a:ea typeface="Roboto"/>
                <a:cs typeface="Rajdhani" panose="020B0604020202020204" charset="0"/>
                <a:sym typeface="Roboto"/>
              </a:rPr>
              <a:t>Random Forest – High Accuracy but lower precision and recall.</a:t>
            </a: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Rajdhani" panose="020B0604020202020204" charset="0"/>
                <a:ea typeface="Roboto"/>
                <a:cs typeface="Rajdhani" panose="020B0604020202020204" charset="0"/>
                <a:sym typeface="Roboto"/>
              </a:rPr>
              <a:t>Gradient Boost </a:t>
            </a:r>
            <a:r>
              <a:rPr lang="en-US" b="1" dirty="0">
                <a:solidFill>
                  <a:srgbClr val="CBD5E1"/>
                </a:solidFill>
                <a:latin typeface="Rajdhani" panose="020B0604020202020204" charset="0"/>
                <a:ea typeface="Roboto"/>
                <a:cs typeface="Rajdhani" panose="020B0604020202020204" charset="0"/>
                <a:sym typeface="Roboto"/>
              </a:rPr>
              <a:t>– High Precision</a:t>
            </a: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BD5E1"/>
                </a:solidFill>
                <a:latin typeface="Rajdhani" panose="020B0604020202020204" charset="0"/>
                <a:ea typeface="Roboto"/>
                <a:cs typeface="Rajdhani" panose="020B0604020202020204" charset="0"/>
                <a:sym typeface="Roboto"/>
              </a:rPr>
              <a:t>Stacked Meta Model – High Accuracy, Precision and Recall</a:t>
            </a:r>
            <a:endParaRPr b="1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781050" y="3052762"/>
            <a:ext cx="108525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866304" y="3052762"/>
            <a:ext cx="146253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328838" y="3052762"/>
            <a:ext cx="151179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4840634" y="3052762"/>
            <a:ext cx="192970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781050" y="3648075"/>
            <a:ext cx="108525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1866304" y="3648075"/>
            <a:ext cx="146253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328838" y="3648075"/>
            <a:ext cx="15117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4840634" y="3648075"/>
            <a:ext cx="19297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781050" y="4229100"/>
            <a:ext cx="108525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1866304" y="4229100"/>
            <a:ext cx="146253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3328838" y="4229100"/>
            <a:ext cx="15117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4840634" y="4229100"/>
            <a:ext cx="19297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781050" y="4810125"/>
            <a:ext cx="108525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1866304" y="4810125"/>
            <a:ext cx="146253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3328838" y="4810125"/>
            <a:ext cx="15117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4840634" y="4810125"/>
            <a:ext cx="19297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387792"/>
            <a:ext cx="3517850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7000" y="1387792"/>
            <a:ext cx="3517850" cy="2524125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accent6">
                <a:lumMod val="40000"/>
                <a:lumOff val="60000"/>
              </a:schemeClr>
            </a:outerShdw>
          </a:effectLst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3929062"/>
            <a:ext cx="351785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771525" y="485775"/>
            <a:ext cx="1138142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CONFUSION MATRIX (META MODEL)</a:t>
            </a:r>
            <a:endParaRPr dirty="0"/>
          </a:p>
        </p:txBody>
      </p:sp>
      <p:sp>
        <p:nvSpPr>
          <p:cNvPr id="235" name="Google Shape;235;p21"/>
          <p:cNvSpPr/>
          <p:nvPr/>
        </p:nvSpPr>
        <p:spPr>
          <a:xfrm>
            <a:off x="581025" y="485775"/>
            <a:ext cx="47625" cy="5905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803117" y="1683067"/>
            <a:ext cx="30736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TRUE NEGATIVES</a:t>
            </a:r>
            <a:endParaRPr dirty="0"/>
          </a:p>
        </p:txBody>
      </p:sp>
      <p:sp>
        <p:nvSpPr>
          <p:cNvPr id="237" name="Google Shape;237;p21"/>
          <p:cNvSpPr txBox="1"/>
          <p:nvPr/>
        </p:nvSpPr>
        <p:spPr>
          <a:xfrm>
            <a:off x="876300" y="2540317"/>
            <a:ext cx="29273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rPr>
              <a:t>8,501</a:t>
            </a:r>
            <a:endParaRPr dirty="0"/>
          </a:p>
        </p:txBody>
      </p:sp>
      <p:sp>
        <p:nvSpPr>
          <p:cNvPr id="238" name="Google Shape;238;p21"/>
          <p:cNvSpPr txBox="1"/>
          <p:nvPr/>
        </p:nvSpPr>
        <p:spPr>
          <a:xfrm>
            <a:off x="876300" y="3235642"/>
            <a:ext cx="29273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Healthy Correctly Identified</a:t>
            </a:r>
            <a:endParaRPr dirty="0"/>
          </a:p>
        </p:txBody>
      </p:sp>
      <p:sp>
        <p:nvSpPr>
          <p:cNvPr id="239" name="Google Shape;239;p21"/>
          <p:cNvSpPr txBox="1"/>
          <p:nvPr/>
        </p:nvSpPr>
        <p:spPr>
          <a:xfrm>
            <a:off x="4559092" y="1683067"/>
            <a:ext cx="30736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chemeClr val="accent2">
                    <a:lumMod val="40000"/>
                    <a:lumOff val="6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FALSE POSITIVE</a:t>
            </a:r>
            <a:endParaRPr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632275" y="2540317"/>
            <a:ext cx="29273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rPr>
              <a:t>1,014</a:t>
            </a:r>
            <a:endParaRPr dirty="0"/>
          </a:p>
        </p:txBody>
      </p:sp>
      <p:sp>
        <p:nvSpPr>
          <p:cNvPr id="241" name="Google Shape;241;p21"/>
          <p:cNvSpPr txBox="1"/>
          <p:nvPr/>
        </p:nvSpPr>
        <p:spPr>
          <a:xfrm>
            <a:off x="4632275" y="3235642"/>
            <a:ext cx="29273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Incorrect</a:t>
            </a:r>
            <a:r>
              <a:rPr lang="en-US" sz="12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Stroke Predicted (Less Critical)</a:t>
            </a:r>
            <a:endParaRPr dirty="0"/>
          </a:p>
        </p:txBody>
      </p:sp>
      <p:sp>
        <p:nvSpPr>
          <p:cNvPr id="242" name="Google Shape;242;p21"/>
          <p:cNvSpPr txBox="1"/>
          <p:nvPr/>
        </p:nvSpPr>
        <p:spPr>
          <a:xfrm>
            <a:off x="4559093" y="4224337"/>
            <a:ext cx="30736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TRUE POSITIVES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4632275" y="5081587"/>
            <a:ext cx="29273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rPr>
              <a:t>1,796</a:t>
            </a:r>
            <a:endParaRPr dirty="0"/>
          </a:p>
        </p:txBody>
      </p:sp>
      <p:sp>
        <p:nvSpPr>
          <p:cNvPr id="244" name="Google Shape;244;p21"/>
          <p:cNvSpPr txBox="1"/>
          <p:nvPr/>
        </p:nvSpPr>
        <p:spPr>
          <a:xfrm>
            <a:off x="4632275" y="5776912"/>
            <a:ext cx="29273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Stroke Correctly Predicted</a:t>
            </a:r>
            <a:endParaRPr/>
          </a:p>
        </p:txBody>
      </p:sp>
      <p:pic>
        <p:nvPicPr>
          <p:cNvPr id="245" name="Google Shape;24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01750" y="192119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44624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32;p21" descr="image.png">
            <a:extLst>
              <a:ext uri="{FF2B5EF4-FFF2-40B4-BE49-F238E27FC236}">
                <a16:creationId xmlns:a16="http://schemas.microsoft.com/office/drawing/2014/main" id="{939941F9-3D98-84EC-AB12-EC427E66FF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7058" y="3929062"/>
            <a:ext cx="3517850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39;p21">
            <a:extLst>
              <a:ext uri="{FF2B5EF4-FFF2-40B4-BE49-F238E27FC236}">
                <a16:creationId xmlns:a16="http://schemas.microsoft.com/office/drawing/2014/main" id="{D0832D5D-B0FA-7F5A-8740-E1DC04E22EAF}"/>
              </a:ext>
            </a:extLst>
          </p:cNvPr>
          <p:cNvSpPr txBox="1"/>
          <p:nvPr/>
        </p:nvSpPr>
        <p:spPr>
          <a:xfrm>
            <a:off x="819150" y="4224337"/>
            <a:ext cx="30736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EF4444"/>
                </a:solidFill>
                <a:latin typeface="Rajdhani"/>
                <a:ea typeface="Rajdhani"/>
                <a:cs typeface="Rajdhani"/>
                <a:sym typeface="Rajdhani"/>
              </a:rPr>
              <a:t>FALSE NEGATIVES</a:t>
            </a:r>
            <a:endParaRPr/>
          </a:p>
        </p:txBody>
      </p:sp>
      <p:sp>
        <p:nvSpPr>
          <p:cNvPr id="4" name="Google Shape;240;p21">
            <a:extLst>
              <a:ext uri="{FF2B5EF4-FFF2-40B4-BE49-F238E27FC236}">
                <a16:creationId xmlns:a16="http://schemas.microsoft.com/office/drawing/2014/main" id="{7B1AD71B-DBD6-2FA5-DF81-1C6FBCD86E4F}"/>
              </a:ext>
            </a:extLst>
          </p:cNvPr>
          <p:cNvSpPr txBox="1"/>
          <p:nvPr/>
        </p:nvSpPr>
        <p:spPr>
          <a:xfrm>
            <a:off x="892333" y="5081587"/>
            <a:ext cx="29273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rPr>
              <a:t>146</a:t>
            </a:r>
            <a:endParaRPr dirty="0"/>
          </a:p>
        </p:txBody>
      </p:sp>
      <p:sp>
        <p:nvSpPr>
          <p:cNvPr id="5" name="Google Shape;241;p21">
            <a:extLst>
              <a:ext uri="{FF2B5EF4-FFF2-40B4-BE49-F238E27FC236}">
                <a16:creationId xmlns:a16="http://schemas.microsoft.com/office/drawing/2014/main" id="{8674DDCB-E853-F757-CB24-0DB040FCAC94}"/>
              </a:ext>
            </a:extLst>
          </p:cNvPr>
          <p:cNvSpPr txBox="1"/>
          <p:nvPr/>
        </p:nvSpPr>
        <p:spPr>
          <a:xfrm>
            <a:off x="892333" y="5776912"/>
            <a:ext cx="29273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Missed Stroke Cases (Critical)</a:t>
            </a:r>
            <a:endParaRPr/>
          </a:p>
        </p:txBody>
      </p:sp>
      <p:pic>
        <p:nvPicPr>
          <p:cNvPr id="6" name="Google Shape;246;p21" descr="image.png">
            <a:extLst>
              <a:ext uri="{FF2B5EF4-FFF2-40B4-BE49-F238E27FC236}">
                <a16:creationId xmlns:a16="http://schemas.microsoft.com/office/drawing/2014/main" id="{0D7BE063-B26D-0465-B4D6-D2E8CA0B5E1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65409" y="44624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green icon with a cross and a shield&#10;&#10;AI-generated content may be incorrect.">
            <a:extLst>
              <a:ext uri="{FF2B5EF4-FFF2-40B4-BE49-F238E27FC236}">
                <a16:creationId xmlns:a16="http://schemas.microsoft.com/office/drawing/2014/main" id="{9BC31D7A-1622-A4BF-C3B1-70F18E65CC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9554" y="1884908"/>
            <a:ext cx="992594" cy="6617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C6F07E-A6F2-4983-5F0C-5451DB90F7C8}"/>
              </a:ext>
            </a:extLst>
          </p:cNvPr>
          <p:cNvSpPr txBox="1"/>
          <p:nvPr/>
        </p:nvSpPr>
        <p:spPr>
          <a:xfrm>
            <a:off x="8076942" y="3123760"/>
            <a:ext cx="3767190" cy="213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Rajdhani" panose="020B0604020202020204" charset="0"/>
                <a:ea typeface="Roboto"/>
                <a:cs typeface="Rajdhani" panose="020B0604020202020204" charset="0"/>
                <a:sym typeface="Roboto"/>
              </a:rPr>
              <a:t>Total Patients – 11457</a:t>
            </a: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CBD5E1"/>
                </a:solidFill>
                <a:latin typeface="Rajdhani" panose="020B0604020202020204" charset="0"/>
                <a:ea typeface="Roboto"/>
                <a:cs typeface="Rajdhani" panose="020B0604020202020204" charset="0"/>
                <a:sym typeface="Roboto"/>
              </a:rPr>
              <a:t>Total Negative Cases (0) - 9515</a:t>
            </a:r>
            <a:endParaRPr lang="en-US" sz="1800" b="1" i="0" u="none" strike="noStrike" cap="none" dirty="0">
              <a:solidFill>
                <a:srgbClr val="CBD5E1"/>
              </a:solidFill>
              <a:latin typeface="Rajdhani" panose="020B0604020202020204" charset="0"/>
              <a:ea typeface="Roboto"/>
              <a:cs typeface="Rajdhani" panose="020B0604020202020204" charset="0"/>
              <a:sym typeface="Roboto"/>
            </a:endParaRPr>
          </a:p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>
                <a:solidFill>
                  <a:srgbClr val="CBD5E1"/>
                </a:solidFill>
                <a:latin typeface="Rajdhani" panose="020B0604020202020204" charset="0"/>
                <a:ea typeface="Roboto"/>
                <a:cs typeface="Rajdhani" panose="020B0604020202020204" charset="0"/>
                <a:sym typeface="Roboto"/>
              </a:rPr>
              <a:t>Total Positive Cases (1) </a:t>
            </a:r>
            <a:r>
              <a:rPr lang="en-US" sz="1800" b="1" dirty="0">
                <a:solidFill>
                  <a:srgbClr val="CBD5E1"/>
                </a:solidFill>
                <a:latin typeface="Rajdhani" panose="020B0604020202020204" charset="0"/>
                <a:ea typeface="Roboto"/>
                <a:cs typeface="Rajdhani" panose="020B0604020202020204" charset="0"/>
                <a:sym typeface="Roboto"/>
              </a:rPr>
              <a:t>– 1942</a:t>
            </a:r>
          </a:p>
          <a:p>
            <a:pPr>
              <a:lnSpc>
                <a:spcPct val="150000"/>
              </a:lnSpc>
              <a:buClr>
                <a:schemeClr val="bg1"/>
              </a:buClr>
            </a:pPr>
            <a:endParaRPr lang="en-US" sz="1800" b="1" dirty="0">
              <a:solidFill>
                <a:srgbClr val="CBD5E1"/>
              </a:solidFill>
              <a:latin typeface="Rajdhani" panose="020B0604020202020204" charset="0"/>
              <a:ea typeface="Roboto"/>
              <a:cs typeface="Rajdhani" panose="020B0604020202020204" charset="0"/>
              <a:sym typeface="Roboto"/>
            </a:endParaRPr>
          </a:p>
          <a:p>
            <a:pPr marL="285750" lvl="0" indent="-285750">
              <a:lnSpc>
                <a:spcPct val="1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b="1" dirty="0">
              <a:solidFill>
                <a:srgbClr val="CBD5E1"/>
              </a:solidFill>
              <a:latin typeface="Rajdhani" panose="020B0604020202020204" charset="0"/>
              <a:ea typeface="Roboto"/>
              <a:cs typeface="Rajdhani" panose="020B0604020202020204" charset="0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 txBox="1"/>
          <p:nvPr/>
        </p:nvSpPr>
        <p:spPr>
          <a:xfrm>
            <a:off x="-464344" y="1422574"/>
            <a:ext cx="11581447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IMPACT SUMMARY</a:t>
            </a:r>
            <a:endParaRPr dirty="0"/>
          </a:p>
        </p:txBody>
      </p:sp>
      <p:sp>
        <p:nvSpPr>
          <p:cNvPr id="290" name="Google Shape;290;p24"/>
          <p:cNvSpPr txBox="1"/>
          <p:nvPr/>
        </p:nvSpPr>
        <p:spPr>
          <a:xfrm>
            <a:off x="1040130" y="4305300"/>
            <a:ext cx="8572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 robust, interpretable, and high-performance system for early stroke detection, directly enabling preventive care and reducing mortality.</a:t>
            </a:r>
            <a:endParaRPr dirty="0"/>
          </a:p>
        </p:txBody>
      </p:sp>
      <p:sp>
        <p:nvSpPr>
          <p:cNvPr id="291" name="Google Shape;291;p24"/>
          <p:cNvSpPr txBox="1"/>
          <p:nvPr/>
        </p:nvSpPr>
        <p:spPr>
          <a:xfrm>
            <a:off x="1661636" y="2933700"/>
            <a:ext cx="23622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92.5%</a:t>
            </a:r>
            <a:endParaRPr dirty="0"/>
          </a:p>
        </p:txBody>
      </p:sp>
      <p:sp>
        <p:nvSpPr>
          <p:cNvPr id="292" name="Google Shape;292;p24"/>
          <p:cNvSpPr txBox="1"/>
          <p:nvPr/>
        </p:nvSpPr>
        <p:spPr>
          <a:xfrm>
            <a:off x="1661636" y="3600450"/>
            <a:ext cx="2362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STROKE DETECTION (1) ACCURACY</a:t>
            </a:r>
            <a:endParaRPr dirty="0"/>
          </a:p>
        </p:txBody>
      </p:sp>
      <p:sp>
        <p:nvSpPr>
          <p:cNvPr id="293" name="Google Shape;293;p24"/>
          <p:cNvSpPr txBox="1"/>
          <p:nvPr/>
        </p:nvSpPr>
        <p:spPr>
          <a:xfrm>
            <a:off x="7724298" y="2933700"/>
            <a:ext cx="1266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88%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7724298" y="3600450"/>
            <a:ext cx="1266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RECALL RATE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/>
        </p:nvSpPr>
        <p:spPr>
          <a:xfrm>
            <a:off x="-3063240" y="856357"/>
            <a:ext cx="1158144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4400" b="1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LIMITATIONS</a:t>
            </a:r>
            <a:endParaRPr lang="en-US" sz="4800"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1188720" y="2281237"/>
            <a:ext cx="9258300" cy="4847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Data Imbalance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: The stroke event labels are imbalanced, which may affect model sensitivity to minority class (stroke cases).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Limited Feature Set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: Uses mainly structured demographic and health features; lacks more complex inputs like imaging or genetic data.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Static Model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: Current model does not update in real-time or incorporate temporal health changes over time.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Generalization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: Model trained on one dataset may not generalize well to populations with different demographic or lifestyle factors.</a:t>
            </a:r>
          </a:p>
          <a:p>
            <a:pPr>
              <a:buClr>
                <a:schemeClr val="bg1"/>
              </a:buClr>
            </a:pP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endParaRPr lang="en-US" sz="1800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4F72F15B-0380-ABE3-8EFC-69719849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5A7C8AD8-13CA-64F7-7FC0-EDEFAE405C81}"/>
              </a:ext>
            </a:extLst>
          </p:cNvPr>
          <p:cNvSpPr txBox="1"/>
          <p:nvPr/>
        </p:nvSpPr>
        <p:spPr>
          <a:xfrm>
            <a:off x="-1874520" y="818257"/>
            <a:ext cx="1158144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4400" b="1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FUTURE ENHANCEMENTS</a:t>
            </a:r>
            <a:endParaRPr lang="en-US" sz="4800" dirty="0"/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ED5C8BC8-195A-2500-A311-9A2D9491E4E2}"/>
              </a:ext>
            </a:extLst>
          </p:cNvPr>
          <p:cNvSpPr txBox="1"/>
          <p:nvPr/>
        </p:nvSpPr>
        <p:spPr>
          <a:xfrm>
            <a:off x="1066800" y="2113597"/>
            <a:ext cx="9258300" cy="383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bg1"/>
              </a:buClr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Address Class Imbalance and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Feature Space : Cost-sensitive learning to improve detection of stroke cases against different lab features.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Dynamic Model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: Adapt models for incremental updates with new data streams for personalized continuous risk assessment.</a:t>
            </a:r>
          </a:p>
          <a:p>
            <a:pPr>
              <a:buClr>
                <a:schemeClr val="bg1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Model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Explainability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: Integrate interpretability frameworks with Dashboard and Other Hospital Systems to provide clearer insights to clinicians.</a:t>
            </a:r>
            <a:br>
              <a:rPr lang="en-US" sz="18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7317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E1F1326C-FC98-B0F3-C457-546B24FBF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1D171821-8346-0680-806A-32F66D8F188C}"/>
              </a:ext>
            </a:extLst>
          </p:cNvPr>
          <p:cNvSpPr txBox="1"/>
          <p:nvPr/>
        </p:nvSpPr>
        <p:spPr>
          <a:xfrm>
            <a:off x="-3025140" y="912585"/>
            <a:ext cx="11581447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4400" b="1" dirty="0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SUMMARY</a:t>
            </a:r>
            <a:endParaRPr lang="en-US" sz="4800" dirty="0"/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42AFC435-D4CC-1D23-866E-CBBC4C733A4E}"/>
              </a:ext>
            </a:extLst>
          </p:cNvPr>
          <p:cNvSpPr txBox="1"/>
          <p:nvPr/>
        </p:nvSpPr>
        <p:spPr>
          <a:xfrm>
            <a:off x="1066800" y="2113597"/>
            <a:ext cx="9258300" cy="438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bg1"/>
              </a:buClr>
            </a:pP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BD5E1"/>
                </a:solidFill>
                <a:latin typeface="Roboto"/>
                <a:ea typeface="Roboto"/>
                <a:cs typeface="Roboto"/>
              </a:rPr>
              <a:t>Developed a </a:t>
            </a:r>
            <a:r>
              <a:rPr lang="en-US" sz="180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robust, interpretable  </a:t>
            </a:r>
            <a:r>
              <a:rPr lang="en-US" sz="1800" dirty="0">
                <a:solidFill>
                  <a:srgbClr val="CBD5E1"/>
                </a:solidFill>
                <a:latin typeface="Roboto"/>
                <a:ea typeface="Roboto"/>
                <a:cs typeface="Roboto"/>
              </a:rPr>
              <a:t>Stroke prediction model using patient demographic and health features.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CBD5E1"/>
              </a:solidFill>
              <a:latin typeface="Roboto"/>
              <a:ea typeface="Roboto"/>
              <a:cs typeface="Roboto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BD5E1"/>
                </a:solidFill>
                <a:latin typeface="Roboto"/>
                <a:ea typeface="Roboto"/>
                <a:cs typeface="Roboto"/>
              </a:rPr>
              <a:t>Feature importance reveal – glucose level, BMI and age are more critical.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CBD5E1"/>
              </a:solidFill>
              <a:latin typeface="Roboto"/>
              <a:ea typeface="Roboto"/>
              <a:cs typeface="Roboto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BD5E1"/>
                </a:solidFill>
                <a:latin typeface="Roboto"/>
                <a:ea typeface="Roboto"/>
                <a:cs typeface="Roboto"/>
              </a:rPr>
              <a:t>The model leverages Meta Model combining the features of advanced models like Random Forest and Gradient Boost for accurate classification to better identify high-risk patients.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CBD5E1"/>
              </a:solidFill>
              <a:latin typeface="Roboto"/>
              <a:ea typeface="Roboto"/>
              <a:cs typeface="Roboto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CBD5E1"/>
                </a:solidFill>
                <a:latin typeface="Roboto"/>
                <a:ea typeface="Roboto"/>
                <a:cs typeface="Roboto"/>
              </a:rPr>
              <a:t>Potential to save lives through early detection &amp; intervention.</a:t>
            </a:r>
            <a:br>
              <a:rPr lang="en-US" sz="18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8579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2C14-B16F-F31B-59C9-587E258082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D02DC-6A00-D1D7-7323-504BB3B957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97ACA2-745B-7F79-8AE7-C87E3D9BF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202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1799</TotalTime>
  <Words>768</Words>
  <Application>Microsoft Office PowerPoint</Application>
  <PresentationFormat>Widescreen</PresentationFormat>
  <Paragraphs>146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Courier New</vt:lpstr>
      <vt:lpstr>Roboto</vt:lpstr>
      <vt:lpstr>Rajdhani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 Hafiz</cp:lastModifiedBy>
  <cp:revision>9</cp:revision>
  <dcterms:modified xsi:type="dcterms:W3CDTF">2025-12-02T12:35:53Z</dcterms:modified>
</cp:coreProperties>
</file>